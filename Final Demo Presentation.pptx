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9" r:id="rId6"/>
    <p:sldId id="262" r:id="rId7"/>
    <p:sldId id="257" r:id="rId8"/>
    <p:sldId id="264" r:id="rId9"/>
    <p:sldId id="267" r:id="rId10"/>
    <p:sldId id="268" r:id="rId11"/>
    <p:sldId id="258" r:id="rId12"/>
    <p:sldId id="261" r:id="rId13"/>
    <p:sldId id="270" r:id="rId14"/>
    <p:sldId id="263" r:id="rId15"/>
    <p:sldId id="260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0CD"/>
    <a:srgbClr val="00FF00"/>
    <a:srgbClr val="147D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6882" autoAdjust="0"/>
  </p:normalViewPr>
  <p:slideViewPr>
    <p:cSldViewPr>
      <p:cViewPr varScale="1">
        <p:scale>
          <a:sx n="121" d="100"/>
          <a:sy n="121" d="100"/>
        </p:scale>
        <p:origin x="164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97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B4AB1-E837-45D3-85BC-A12040C48ED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2C690-0B1D-4588-9FBB-37F22051D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51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CEE9-35D0-442B-9A05-191922D0EB3C}" type="datetimeFigureOut">
              <a:rPr lang="en-US" smtClean="0"/>
              <a:pPr/>
              <a:t>12/26/2025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0ECFE-23D8-4D44-A2C6-A3C003E3EAB6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0346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1</a:t>
            </a:fld>
            <a:endParaRPr lang="en-N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Add slides as required</a:t>
            </a:r>
          </a:p>
          <a:p>
            <a:r>
              <a:rPr lang="en-NZ" dirty="0"/>
              <a:t>Development tools</a:t>
            </a:r>
          </a:p>
          <a:p>
            <a:r>
              <a:rPr lang="en-NZ" dirty="0"/>
              <a:t>Platform</a:t>
            </a:r>
          </a:p>
          <a:p>
            <a:r>
              <a:rPr lang="en-NZ" dirty="0"/>
              <a:t>Why chosen? (from</a:t>
            </a:r>
            <a:r>
              <a:rPr lang="en-NZ" baseline="0" dirty="0"/>
              <a:t> a technical and managerial perspective) </a:t>
            </a:r>
            <a:endParaRPr lang="en-NZ" dirty="0"/>
          </a:p>
          <a:p>
            <a:r>
              <a:rPr lang="en-NZ" dirty="0"/>
              <a:t>Any Alternative technologies that</a:t>
            </a:r>
            <a:r>
              <a:rPr lang="en-NZ" baseline="0" dirty="0"/>
              <a:t> could have been chosen</a:t>
            </a:r>
            <a:endParaRPr lang="en-NZ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18456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List of main features (completed requirements)</a:t>
            </a:r>
          </a:p>
          <a:p>
            <a:r>
              <a:rPr lang="en-NZ" dirty="0"/>
              <a:t>You can use</a:t>
            </a:r>
            <a:r>
              <a:rPr lang="en-NZ" baseline="0" dirty="0"/>
              <a:t> a diagram to represent the feature </a:t>
            </a:r>
            <a:endParaRPr lang="en-NZ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8</a:t>
            </a:fld>
            <a:endParaRPr lang="en-N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Legal:</a:t>
            </a:r>
          </a:p>
          <a:p>
            <a:r>
              <a:rPr lang="en-GB" dirty="0"/>
              <a:t>The design complies with </a:t>
            </a:r>
            <a:r>
              <a:rPr lang="en-GB" b="1" dirty="0"/>
              <a:t>Bahrain PDPL Law No. 30 (2018)</a:t>
            </a:r>
            <a:r>
              <a:rPr lang="en-GB" dirty="0"/>
              <a:t> by ensuring confidentiality, controlled access, and encrypted data transmission.</a:t>
            </a:r>
          </a:p>
          <a:p>
            <a:endParaRPr lang="en-GB" dirty="0"/>
          </a:p>
          <a:p>
            <a:r>
              <a:rPr lang="en-US" dirty="0"/>
              <a:t>Ethical: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Medical data is highly sensitive. Ethically, the network must prevent unauthorized access, data leakage, and misuse.</a:t>
            </a:r>
          </a:p>
          <a:p>
            <a:endParaRPr lang="en-AE" dirty="0"/>
          </a:p>
          <a:p>
            <a:r>
              <a:rPr lang="en-US" dirty="0"/>
              <a:t>Social:</a:t>
            </a:r>
          </a:p>
          <a:p>
            <a:r>
              <a:rPr lang="en-GB" dirty="0"/>
              <a:t>Reliable and secure connectivity improves </a:t>
            </a:r>
            <a:r>
              <a:rPr lang="en-GB" b="1" dirty="0"/>
              <a:t>continuity of care</a:t>
            </a:r>
            <a:r>
              <a:rPr lang="en-GB" dirty="0"/>
              <a:t>, especially for remote consultations. Reducing outages and latency directly impacts patient outcomes.</a:t>
            </a:r>
          </a:p>
          <a:p>
            <a:endParaRPr lang="en-GB" dirty="0"/>
          </a:p>
          <a:p>
            <a:r>
              <a:rPr lang="en-US" dirty="0"/>
              <a:t>Professional:</a:t>
            </a:r>
          </a:p>
          <a:p>
            <a:r>
              <a:rPr lang="en-GB" dirty="0"/>
              <a:t>The design follows </a:t>
            </a:r>
            <a:r>
              <a:rPr lang="en-GB" b="1" dirty="0"/>
              <a:t>enterprise best practices</a:t>
            </a:r>
            <a:r>
              <a:rPr lang="en-GB" dirty="0"/>
              <a:t> and aligns with </a:t>
            </a:r>
            <a:r>
              <a:rPr lang="en-GB" b="1" dirty="0"/>
              <a:t>ISO 27001 security principles</a:t>
            </a:r>
            <a:r>
              <a:rPr lang="en-GB" dirty="0"/>
              <a:t>, even in a simulated environment.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77498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Describes the technical/management challenges and the acquired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861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 Work (How would you improve your project?)</a:t>
            </a:r>
            <a:r>
              <a:rPr lang="en-NZ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69991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Present your product </a:t>
            </a:r>
          </a:p>
          <a:p>
            <a:r>
              <a:rPr lang="en-NZ" dirty="0"/>
              <a:t>Have ready scenarios of</a:t>
            </a:r>
            <a:r>
              <a:rPr lang="en-NZ" baseline="0" dirty="0"/>
              <a:t> demonstration and steps</a:t>
            </a:r>
          </a:p>
          <a:p>
            <a:r>
              <a:rPr lang="en-NZ" baseline="0" dirty="0"/>
              <a:t>Test these steps in sequence and concept </a:t>
            </a:r>
          </a:p>
          <a:p>
            <a:r>
              <a:rPr lang="en-NZ" baseline="0" dirty="0"/>
              <a:t>Describe what you do as you demonstrate </a:t>
            </a: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12</a:t>
            </a:fld>
            <a:endParaRPr lang="en-N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Lucida Bright" panose="02040602050505020304" pitchFamily="18" charset="0"/>
              </a:rPr>
              <a:t>Q&amp;A - Clarity and confidence, Depth of Knowledge, Critical Thinking and Problem Solving, Relevance and Accuracy, Professionalism and composure</a:t>
            </a:r>
          </a:p>
          <a:p>
            <a:r>
              <a:rPr lang="en-NZ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Questions</a:t>
            </a:r>
          </a:p>
          <a:p>
            <a:r>
              <a:rPr lang="en-NZ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 questions (why did you do it this way?)</a:t>
            </a:r>
            <a:r>
              <a:rPr lang="en-NZ" dirty="0"/>
              <a:t> </a:t>
            </a:r>
          </a:p>
          <a:p>
            <a:r>
              <a:rPr lang="en-NZ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Reflection (What would you do differently?)</a:t>
            </a:r>
            <a:r>
              <a:rPr lang="en-NZ" dirty="0"/>
              <a:t> </a:t>
            </a:r>
          </a:p>
          <a:p>
            <a:r>
              <a:rPr lang="en-NZ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 Experience (How did this course help you become work ready?)</a:t>
            </a:r>
            <a:r>
              <a:rPr lang="en-NZ" dirty="0"/>
              <a:t> </a:t>
            </a:r>
          </a:p>
          <a:p>
            <a:r>
              <a:rPr lang="en-NZ" dirty="0"/>
              <a:t>Go back to the design, Explain</a:t>
            </a:r>
            <a:r>
              <a:rPr lang="en-NZ" baseline="0" dirty="0"/>
              <a:t> this diagram , Explain this feature , Explain this code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0ECFE-23D8-4D44-A2C6-A3C003E3EAB6}" type="slidenum">
              <a:rPr lang="en-NZ" smtClean="0"/>
              <a:pPr/>
              <a:t>13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2735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925382"/>
            <a:ext cx="8496944" cy="1080120"/>
          </a:xfrm>
        </p:spPr>
        <p:txBody>
          <a:bodyPr>
            <a:normAutofit/>
          </a:bodyPr>
          <a:lstStyle>
            <a:lvl1pPr algn="l">
              <a:defRPr lang="en-NZ" sz="4400" b="1" i="0" kern="1200" baseline="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437550"/>
            <a:ext cx="8143932" cy="1071570"/>
          </a:xfrm>
        </p:spPr>
        <p:txBody>
          <a:bodyPr>
            <a:normAutofit/>
          </a:bodyPr>
          <a:lstStyle>
            <a:lvl1pPr marL="0" indent="0" algn="l">
              <a:buNone/>
              <a:defRPr sz="2800" b="1" i="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N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latin typeface="+mj-lt"/>
              </a:defRPr>
            </a:lvl1pPr>
          </a:lstStyle>
          <a:p>
            <a:fld id="{9D46AE3D-F3DA-42C3-91CB-47B0B0746A42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3174" y="6429396"/>
            <a:ext cx="3786214" cy="365125"/>
          </a:xfrm>
        </p:spPr>
        <p:txBody>
          <a:bodyPr/>
          <a:lstStyle>
            <a:lvl1pPr>
              <a:defRPr sz="1100">
                <a:latin typeface="+mj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NZ" sz="4000" b="1" i="0" kern="1200" baseline="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3F0E-CEEA-4C2C-B1E7-EACBC9488D4C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NZ" sz="4000" b="1" i="0" kern="1200" baseline="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F8D0E-F0AD-45E7-82A8-376B7C496518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NZ" sz="4000" b="1" i="0" kern="1200" baseline="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4BAC-886A-4F43-A919-344743D724BC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NZ" sz="4000" b="1" i="0" kern="1200" baseline="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5C8A-13F7-44CD-A008-F08940DCEABD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EEF5-803B-4F0A-938C-3BB426812F50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9A6-EBC6-49BC-82A3-E74B29D940A2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AAB3-BE26-4FA5-A242-8C1247A903A3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D313E-DDC9-4327-ABDA-86E00A6ADA52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2146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C00000"/>
                </a:solidFill>
                <a:latin typeface="+mj-lt"/>
              </a:defRPr>
            </a:lvl1pPr>
          </a:lstStyle>
          <a:p>
            <a:fld id="{EB770A87-691F-4BCF-B13E-FC26CE82279D}" type="datetime1">
              <a:rPr lang="en-US" smtClean="0"/>
              <a:pPr/>
              <a:t>12/26/2025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2146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rgbClr val="C00000"/>
                </a:solidFill>
                <a:latin typeface="+mj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2146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rgbClr val="C00000"/>
                </a:solidFill>
                <a:latin typeface="+mj-lt"/>
              </a:defRPr>
            </a:lvl1pPr>
          </a:lstStyle>
          <a:p>
            <a:fld id="{6ED2CFF0-5D22-47F9-A6A6-2AF321895914}" type="slidenum">
              <a:rPr lang="en-NZ" smtClean="0"/>
              <a:pPr/>
              <a:t>‹#›</a:t>
            </a:fld>
            <a:endParaRPr lang="en-N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wedge/>
  </p:transition>
  <p:hf hdr="0"/>
  <p:txStyles>
    <p:titleStyle>
      <a:lvl1pPr algn="l" defTabSz="914400" rtl="0" eaLnBrk="1" latinLnBrk="0" hangingPunct="1">
        <a:spcBef>
          <a:spcPct val="0"/>
        </a:spcBef>
        <a:buNone/>
        <a:defRPr lang="en-NZ" sz="4000" b="1" i="0" kern="1200" baseline="0" dirty="0">
          <a:solidFill>
            <a:srgbClr val="C00000"/>
          </a:solidFill>
          <a:latin typeface="+mj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Document.docx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777529"/>
            <a:ext cx="8774632" cy="2312806"/>
          </a:xfrm>
        </p:spPr>
        <p:txBody>
          <a:bodyPr>
            <a:normAutofit/>
          </a:bodyPr>
          <a:lstStyle/>
          <a:p>
            <a:r>
              <a:rPr lang="en-NZ" dirty="0"/>
              <a:t>IT7099 </a:t>
            </a:r>
            <a:r>
              <a:rPr lang="en-US" i="1" dirty="0"/>
              <a:t>CCNP Route For A Global Health Network</a:t>
            </a:r>
            <a:br>
              <a:rPr lang="en-AE" dirty="0"/>
            </a:br>
            <a:endParaRPr lang="en-N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437550"/>
            <a:ext cx="8143932" cy="1575626"/>
          </a:xfrm>
        </p:spPr>
        <p:txBody>
          <a:bodyPr>
            <a:normAutofit/>
          </a:bodyPr>
          <a:lstStyle/>
          <a:p>
            <a:r>
              <a:rPr lang="en-NZ" dirty="0"/>
              <a:t>Student Name: Husain Ali </a:t>
            </a:r>
          </a:p>
          <a:p>
            <a:r>
              <a:rPr lang="en-NZ" dirty="0"/>
              <a:t>Student ID: 202202674</a:t>
            </a:r>
          </a:p>
          <a:p>
            <a:r>
              <a:rPr lang="en-NZ" dirty="0"/>
              <a:t>Supervisor Name: Dr.</a:t>
            </a:r>
            <a:r>
              <a:rPr lang="en-US" dirty="0"/>
              <a:t>Ayman Alani</a:t>
            </a:r>
          </a:p>
          <a:p>
            <a:endParaRPr lang="en-N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1</a:t>
            </a:fld>
            <a:endParaRPr lang="en-NZ" dirty="0"/>
          </a:p>
        </p:txBody>
      </p: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DB07-3BDD-00AE-BA4D-FE20D2FF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0C180-8BE4-C69F-6589-4AA18D384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Global Health Network (GHN) operates across Bahrain, England, Luxembourg, and China, requiring a secure and resilient WAN to support HD medical consultations and critical internal services. The existing network lacked redundancy, encryption, and modern routing capabilities.</a:t>
            </a:r>
            <a:endParaRPr lang="en-A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399E5-8769-FDCF-25AF-51122860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143393"/>
      </p:ext>
    </p:extLst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368" y="0"/>
            <a:ext cx="8291263" cy="764704"/>
          </a:xfrm>
        </p:spPr>
        <p:txBody>
          <a:bodyPr/>
          <a:lstStyle/>
          <a:p>
            <a:r>
              <a:rPr lang="en-US" dirty="0"/>
              <a:t>Aim and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829890"/>
            <a:ext cx="8682135" cy="5805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Aim:</a:t>
            </a:r>
            <a:br>
              <a:rPr lang="en-GB" dirty="0"/>
            </a:br>
            <a:r>
              <a:rPr lang="en-GB" dirty="0"/>
              <a:t>Design and implement a secure, robust WAN architecture enabling GHN branches in Bahrain, England, Luxembourg, and China to communicate reliably and support HD medical services.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Key requirement:</a:t>
            </a:r>
          </a:p>
          <a:p>
            <a:r>
              <a:rPr lang="en-GB" dirty="0"/>
              <a:t>Build a fully functional enterprise grade WAN interconnecting the four GHN sites</a:t>
            </a:r>
          </a:p>
          <a:p>
            <a:r>
              <a:rPr lang="en-GB" dirty="0"/>
              <a:t>Implement dynamic routing </a:t>
            </a:r>
            <a:r>
              <a:rPr lang="en-US" dirty="0"/>
              <a:t>EIGRP, Named EIGRP, OSPFv2, OSPFv3, and MP-BGP</a:t>
            </a:r>
            <a:endParaRPr lang="en-GB" dirty="0"/>
          </a:p>
          <a:p>
            <a:r>
              <a:rPr lang="en-GB" dirty="0"/>
              <a:t>Deploy DMVPN Phase 3 with IPsec to provide encrypted and scalable</a:t>
            </a:r>
          </a:p>
          <a:p>
            <a:r>
              <a:rPr lang="en-GB" dirty="0"/>
              <a:t>Integrate services DNS, FTP, Web, AAA, DHCP, and Email across the branches.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11215304"/>
      </p:ext>
    </p:extLst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91263" cy="1143000"/>
          </a:xfrm>
        </p:spPr>
        <p:txBody>
          <a:bodyPr/>
          <a:lstStyle/>
          <a:p>
            <a:r>
              <a:rPr lang="en-NZ" dirty="0"/>
              <a:t>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4</a:t>
            </a:fld>
            <a:endParaRPr lang="en-NZ"/>
          </a:p>
        </p:txBody>
      </p:sp>
      <p:pic>
        <p:nvPicPr>
          <p:cNvPr id="8" name="Picture 7" descr="Getting started with EVE-NG :: Cavelab blog — Stories from the Cavelab">
            <a:extLst>
              <a:ext uri="{FF2B5EF4-FFF2-40B4-BE49-F238E27FC236}">
                <a16:creationId xmlns:a16="http://schemas.microsoft.com/office/drawing/2014/main" id="{CC0B7C52-6711-7727-F299-026430E2F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" y="1693334"/>
            <a:ext cx="2859867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Virtual Server mit Windows 2012 R2 - Vorteile im Überblick">
            <a:extLst>
              <a:ext uri="{FF2B5EF4-FFF2-40B4-BE49-F238E27FC236}">
                <a16:creationId xmlns:a16="http://schemas.microsoft.com/office/drawing/2014/main" id="{5C26F975-03FF-9C41-52C3-84673D830F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461" y="1456925"/>
            <a:ext cx="2636958" cy="137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E7FB66-FD8D-2A51-2A82-1A3865A11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55745"/>
            <a:ext cx="2905125" cy="600051"/>
          </a:xfrm>
          <a:prstGeom prst="rect">
            <a:avLst/>
          </a:prstGeom>
          <a:noFill/>
        </p:spPr>
      </p:pic>
      <p:pic>
        <p:nvPicPr>
          <p:cNvPr id="14" name="Picture 13" descr="Mozilla Thunderbird Extended Support Release - Free download and install on  Windows | Microsoft Store">
            <a:extLst>
              <a:ext uri="{FF2B5EF4-FFF2-40B4-BE49-F238E27FC236}">
                <a16:creationId xmlns:a16="http://schemas.microsoft.com/office/drawing/2014/main" id="{B79134D1-F1B4-69E9-F8A4-7982BF05D5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101713"/>
            <a:ext cx="1435735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DCA7F1-2D06-E439-51D9-1FD2D7C47F2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9"/>
          <a:stretch>
            <a:fillRect/>
          </a:stretch>
        </p:blipFill>
        <p:spPr bwMode="auto">
          <a:xfrm>
            <a:off x="3387593" y="4929951"/>
            <a:ext cx="1301115" cy="13455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 descr="Comparing Windows 10 Professional and Enterprise Editions - SOFTWAREHUBS.COM">
            <a:extLst>
              <a:ext uri="{FF2B5EF4-FFF2-40B4-BE49-F238E27FC236}">
                <a16:creationId xmlns:a16="http://schemas.microsoft.com/office/drawing/2014/main" id="{F2C21823-3E13-9575-AB8D-D93F9C48B20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65285"/>
            <a:ext cx="2472709" cy="137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Microsoft to release update for Windows 7 despite ending support earlier  this month - NotebookCheck.net News">
            <a:extLst>
              <a:ext uri="{FF2B5EF4-FFF2-40B4-BE49-F238E27FC236}">
                <a16:creationId xmlns:a16="http://schemas.microsoft.com/office/drawing/2014/main" id="{E9A6E37A-8554-ED80-76C8-8DF88ECC8CD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857244"/>
            <a:ext cx="1863725" cy="1490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476A76-6B23-DC97-B15C-FEB04D05389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20" y="3421263"/>
            <a:ext cx="2588359" cy="1300397"/>
          </a:xfrm>
          <a:prstGeom prst="rect">
            <a:avLst/>
          </a:prstGeom>
          <a:noFill/>
        </p:spPr>
      </p:pic>
      <p:pic>
        <p:nvPicPr>
          <p:cNvPr id="19" name="Picture 18" descr="PuTTY - Wikipedia">
            <a:extLst>
              <a:ext uri="{FF2B5EF4-FFF2-40B4-BE49-F238E27FC236}">
                <a16:creationId xmlns:a16="http://schemas.microsoft.com/office/drawing/2014/main" id="{75276D09-2558-1C7A-CFAC-D169ED5C59B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5072191"/>
            <a:ext cx="120396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3FC1BC-F82F-F1EB-4DE4-9D40E0246559}"/>
              </a:ext>
            </a:extLst>
          </p:cNvPr>
          <p:cNvSpPr txBox="1"/>
          <p:nvPr/>
        </p:nvSpPr>
        <p:spPr>
          <a:xfrm>
            <a:off x="4294376" y="4441220"/>
            <a:ext cx="135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47DDF"/>
                </a:solidFill>
              </a:rPr>
              <a:t>Thunderbird</a:t>
            </a:r>
            <a:endParaRPr lang="en-AE" dirty="0">
              <a:solidFill>
                <a:srgbClr val="147DD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AFDD1-CA47-6474-C9AD-D71828EC793A}"/>
              </a:ext>
            </a:extLst>
          </p:cNvPr>
          <p:cNvSpPr txBox="1"/>
          <p:nvPr/>
        </p:nvSpPr>
        <p:spPr>
          <a:xfrm>
            <a:off x="3460140" y="6234691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0CD"/>
                </a:solidFill>
              </a:rPr>
              <a:t>WinRadius</a:t>
            </a:r>
            <a:endParaRPr lang="en-AE" dirty="0">
              <a:solidFill>
                <a:srgbClr val="0030C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E807E-631C-10BA-1EB4-4FCA7B473416}"/>
              </a:ext>
            </a:extLst>
          </p:cNvPr>
          <p:cNvSpPr txBox="1"/>
          <p:nvPr/>
        </p:nvSpPr>
        <p:spPr>
          <a:xfrm>
            <a:off x="6087679" y="6275516"/>
            <a:ext cx="764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PuTTY</a:t>
            </a:r>
            <a:endParaRPr lang="en-AE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3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Design</a:t>
            </a:r>
          </a:p>
        </p:txBody>
      </p: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A8301104-A34E-749E-2B98-72BB3093E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6" y="1417638"/>
            <a:ext cx="8948627" cy="4675658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21461"/>
            <a:ext cx="21336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ED2CFF0-5D22-47F9-A6A6-2AF321895914}" type="slidenum">
              <a:rPr lang="en-NZ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4140571"/>
      </p:ext>
    </p:extLst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AC3FF-B776-BBC4-AE3E-F298C2FA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6</a:t>
            </a:fld>
            <a:endParaRPr lang="en-NZ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6C35B8-C61D-9D84-7FCB-4A4838FE5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94"/>
            <a:ext cx="8291512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Use case diagram</a:t>
            </a:r>
          </a:p>
        </p:txBody>
      </p:sp>
      <p:pic>
        <p:nvPicPr>
          <p:cNvPr id="9" name="Picture 8" descr="A diagram of a health networking&#10;&#10;AI-generated content may be incorrect.">
            <a:extLst>
              <a:ext uri="{FF2B5EF4-FFF2-40B4-BE49-F238E27FC236}">
                <a16:creationId xmlns:a16="http://schemas.microsoft.com/office/drawing/2014/main" id="{DF92261E-A8CB-E6EE-EAEE-E0E46422A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70" y="898863"/>
            <a:ext cx="7171130" cy="58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44191"/>
      </p:ext>
    </p:extLst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2FA7C42-8E15-8B6B-FECF-AE079FE6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75" y="54589"/>
            <a:ext cx="8291263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Deployment diagram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D3D55F-6596-CFDF-F0E2-6BF2AAA61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7850" y="1988840"/>
            <a:ext cx="8878162" cy="37444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89E3-C776-2272-D8D3-E45B5E97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21461"/>
            <a:ext cx="21336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ED2CFF0-5D22-47F9-A6A6-2AF321895914}" type="slidenum">
              <a:rPr lang="en-NZ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NZ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928E81-47F7-7A88-F30E-642E88708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911728"/>
              </p:ext>
            </p:extLst>
          </p:nvPr>
        </p:nvGraphicFramePr>
        <p:xfrm>
          <a:off x="-108520" y="6309321"/>
          <a:ext cx="914400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914257" imgH="792589" progId="Word.Document.12">
                  <p:embed/>
                </p:oleObj>
              </mc:Choice>
              <mc:Fallback>
                <p:oleObj name="Document" showAsIcon="1" r:id="rId4" imgW="914257" imgH="7925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08520" y="6309321"/>
                        <a:ext cx="914400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291389"/>
      </p:ext>
    </p:extLst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60" y="0"/>
            <a:ext cx="8291263" cy="1143000"/>
          </a:xfrm>
        </p:spPr>
        <p:txBody>
          <a:bodyPr/>
          <a:lstStyle/>
          <a:p>
            <a:r>
              <a:rPr lang="en-NZ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9" y="1143000"/>
            <a:ext cx="4413017" cy="5580112"/>
          </a:xfrm>
          <a:ln>
            <a:noFill/>
          </a:ln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NZ" sz="2000" dirty="0"/>
              <a:t>1. Dynamic Multi-AS Routing</a:t>
            </a:r>
          </a:p>
          <a:p>
            <a:r>
              <a:rPr lang="en-NZ" sz="2000" dirty="0"/>
              <a:t>Fast convergence, load balancing, summarization</a:t>
            </a:r>
          </a:p>
          <a:p>
            <a:r>
              <a:rPr lang="en-NZ" sz="2000" dirty="0"/>
              <a:t>Stable inter-domain routing via MP-BGP</a:t>
            </a:r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r>
              <a:rPr lang="en-NZ" sz="2000" dirty="0"/>
              <a:t>2. Secure DMVPN Phase 3</a:t>
            </a:r>
          </a:p>
          <a:p>
            <a:r>
              <a:rPr lang="en-NZ" sz="2000" dirty="0"/>
              <a:t>Spoke-to-spoke shortcuts</a:t>
            </a:r>
          </a:p>
          <a:p>
            <a:r>
              <a:rPr lang="en-NZ" sz="2000" dirty="0"/>
              <a:t>Reduced latency for HD consultation traffic</a:t>
            </a:r>
          </a:p>
          <a:p>
            <a:r>
              <a:rPr lang="en-NZ" sz="2000" dirty="0"/>
              <a:t>IPsec encryption for confidentiality and compliance</a:t>
            </a:r>
          </a:p>
          <a:p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  <a:p>
            <a:pPr marL="0" indent="0">
              <a:buNone/>
            </a:pPr>
            <a:endParaRPr lang="en-NZ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8</a:t>
            </a:fld>
            <a:endParaRPr lang="en-N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96EABD-0BCD-E3E8-20DB-28A01AED3BD7}"/>
              </a:ext>
            </a:extLst>
          </p:cNvPr>
          <p:cNvSpPr txBox="1">
            <a:spLocks/>
          </p:cNvSpPr>
          <p:nvPr/>
        </p:nvSpPr>
        <p:spPr>
          <a:xfrm>
            <a:off x="4439566" y="1143000"/>
            <a:ext cx="4704434" cy="5715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Z" sz="2000" dirty="0"/>
              <a:t>3. Redundancy &amp; High Availability</a:t>
            </a:r>
            <a:endParaRPr lang="en-AE" sz="2000" dirty="0"/>
          </a:p>
          <a:p>
            <a:r>
              <a:rPr lang="en-NZ" sz="2000" dirty="0"/>
              <a:t>Dual hubs</a:t>
            </a:r>
            <a:endParaRPr lang="en-AE" sz="2000" dirty="0"/>
          </a:p>
          <a:p>
            <a:r>
              <a:rPr lang="en-NZ" sz="2000" dirty="0"/>
              <a:t>Redundant ISP paths</a:t>
            </a:r>
          </a:p>
          <a:p>
            <a:r>
              <a:rPr lang="en-NZ" sz="2000" dirty="0"/>
              <a:t>IGP failover mechanisms</a:t>
            </a:r>
          </a:p>
          <a:p>
            <a:pPr marL="0" indent="0">
              <a:buNone/>
            </a:pPr>
            <a:endParaRPr lang="en-AE" sz="2000" dirty="0"/>
          </a:p>
          <a:p>
            <a:pPr marL="0" indent="0">
              <a:buNone/>
            </a:pPr>
            <a:r>
              <a:rPr lang="en-NZ" sz="2000" dirty="0"/>
              <a:t>4. LAN Segmentation &amp; Security</a:t>
            </a:r>
            <a:endParaRPr lang="en-AE" sz="2000" dirty="0"/>
          </a:p>
          <a:p>
            <a:r>
              <a:rPr lang="en-NZ" sz="2000" dirty="0"/>
              <a:t>VLAN isolation</a:t>
            </a:r>
            <a:endParaRPr lang="en-AE" sz="2000" dirty="0"/>
          </a:p>
          <a:p>
            <a:r>
              <a:rPr lang="en-NZ" sz="2000" dirty="0"/>
              <a:t>L2 security to prevent switching attacks</a:t>
            </a:r>
          </a:p>
          <a:p>
            <a:endParaRPr lang="en-AE" sz="2000" dirty="0"/>
          </a:p>
          <a:p>
            <a:pPr marL="0" indent="0">
              <a:buNone/>
            </a:pPr>
            <a:r>
              <a:rPr lang="en-NZ" sz="2000" dirty="0"/>
              <a:t>5. Centralized Services</a:t>
            </a:r>
            <a:endParaRPr lang="en-AE" sz="2000" dirty="0"/>
          </a:p>
          <a:p>
            <a:r>
              <a:rPr lang="en-NZ" sz="2000" dirty="0"/>
              <a:t>AAA Server</a:t>
            </a:r>
          </a:p>
          <a:p>
            <a:r>
              <a:rPr lang="en-NZ" sz="2000" dirty="0"/>
              <a:t>DNS, Web, FTP, Email, DHCP for internal operations</a:t>
            </a:r>
            <a:endParaRPr lang="en-AE" sz="2000" dirty="0">
              <a:effectLst/>
            </a:endParaRPr>
          </a:p>
        </p:txBody>
      </p:sp>
    </p:spTree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91263" cy="764704"/>
          </a:xfrm>
        </p:spPr>
        <p:txBody>
          <a:bodyPr/>
          <a:lstStyle/>
          <a:p>
            <a:r>
              <a:rPr lang="en-US" dirty="0"/>
              <a:t>Bahraini Perspectives &amp; LESPI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384" y="982908"/>
            <a:ext cx="8435280" cy="5438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Bahraini Perspectives</a:t>
            </a:r>
          </a:p>
          <a:p>
            <a:r>
              <a:rPr lang="en-GB" dirty="0"/>
              <a:t>Supports Bahrain’s vision for modern digital healthcare</a:t>
            </a:r>
          </a:p>
          <a:p>
            <a:r>
              <a:rPr lang="en-GB" dirty="0"/>
              <a:t>Enhances secure handling of patient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Legal</a:t>
            </a:r>
          </a:p>
          <a:p>
            <a:r>
              <a:rPr lang="en-GB" dirty="0"/>
              <a:t>Conforms to PDPL Law No. 30 (2018)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Ethical</a:t>
            </a:r>
          </a:p>
          <a:p>
            <a:r>
              <a:rPr lang="en-GB" dirty="0"/>
              <a:t>Ensures integrity and confidentiality of sensitive medical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Social</a:t>
            </a:r>
          </a:p>
          <a:p>
            <a:r>
              <a:rPr lang="en-GB" dirty="0"/>
              <a:t>Reduces service disruption and improves global medical access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Professional</a:t>
            </a:r>
          </a:p>
          <a:p>
            <a:r>
              <a:rPr lang="en-GB" dirty="0"/>
              <a:t>Implements ISO 27001-aligned security standards and best practices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3606058"/>
      </p:ext>
    </p:extLst>
  </p:cSld>
  <p:clrMapOvr>
    <a:masterClrMapping/>
  </p:clrMapOvr>
  <p:transition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FE6-FFD9-6CB6-6D75-6C4D1CCD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D740-2B20-304B-8244-8A8AF60D2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83162"/>
          </a:xfrm>
        </p:spPr>
        <p:txBody>
          <a:bodyPr/>
          <a:lstStyle/>
          <a:p>
            <a:r>
              <a:rPr lang="en-GB" dirty="0"/>
              <a:t>Limited resources in the simulation environment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Windows Server 2019 instability in EVE-NG, replaced with 2012 R2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Windows 10 instability for AAA testing, replaced with Windows 7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High RAM and CPU demand of multi-site DMVPN and BGP topology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50737-6D2E-8907-8AC5-4DB13BD4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98169268"/>
      </p:ext>
    </p:extLst>
  </p:cSld>
  <p:clrMapOvr>
    <a:masterClrMapping/>
  </p:clrMapOvr>
  <p:transition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Introduce MPLS Traffic Engineering for bandwidth optimization</a:t>
            </a:r>
          </a:p>
          <a:p>
            <a:endParaRPr lang="en-US" dirty="0"/>
          </a:p>
          <a:p>
            <a:r>
              <a:rPr lang="en-US" dirty="0"/>
              <a:t>Add QoS for prioritizing HD medical sessions</a:t>
            </a:r>
          </a:p>
          <a:p>
            <a:endParaRPr lang="en-US" dirty="0"/>
          </a:p>
          <a:p>
            <a:r>
              <a:rPr lang="en-US" dirty="0"/>
              <a:t>Deploy centralized SIEM for security monitoring</a:t>
            </a:r>
          </a:p>
          <a:p>
            <a:endParaRPr lang="en-US" dirty="0"/>
          </a:p>
          <a:p>
            <a:r>
              <a:rPr lang="en-US" dirty="0"/>
              <a:t>Move internal services toward high-availability clustering</a:t>
            </a:r>
          </a:p>
          <a:p>
            <a:endParaRPr lang="en-US" dirty="0"/>
          </a:p>
          <a:p>
            <a:r>
              <a:rPr lang="en-US" dirty="0"/>
              <a:t>Evaluate IPv6 migration for long-term scalability</a:t>
            </a:r>
          </a:p>
          <a:p>
            <a:endParaRPr lang="en-US" dirty="0"/>
          </a:p>
          <a:p>
            <a:r>
              <a:rPr lang="en-US" dirty="0"/>
              <a:t>Implement SD-WAN for application-aware routing decisions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6698295"/>
      </p:ext>
    </p:extLst>
  </p:cSld>
  <p:clrMapOvr>
    <a:masterClrMapping/>
  </p:clrMapOvr>
  <p:transition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12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E3177-6823-BE0F-21EF-73ABE4E0A8F8}"/>
              </a:ext>
            </a:extLst>
          </p:cNvPr>
          <p:cNvSpPr txBox="1"/>
          <p:nvPr/>
        </p:nvSpPr>
        <p:spPr>
          <a:xfrm>
            <a:off x="370016" y="1700808"/>
            <a:ext cx="75608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Server services demonstration (DNS, DHCP, Web, FTP, Email)</a:t>
            </a:r>
            <a:endParaRPr lang="en-AE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VLAN segmentation and inter-VLAN routing using IGP per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Layer 2 security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DMVPN Phase 3 and IPsec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AAA authentication demonstration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F1C1B-198E-C5C5-A2DC-4147CDCF5A5F}"/>
              </a:ext>
            </a:extLst>
          </p:cNvPr>
          <p:cNvSpPr txBox="1"/>
          <p:nvPr/>
        </p:nvSpPr>
        <p:spPr>
          <a:xfrm>
            <a:off x="251520" y="4941168"/>
            <a:ext cx="6671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Note:</a:t>
            </a:r>
          </a:p>
          <a:p>
            <a:r>
              <a:rPr lang="en-GB" dirty="0"/>
              <a:t>Due to EVE-NG resource limitations, the simulation environment may become unstable during the live demonstration. As a result, routers or servers may require restarting to continue the demo.</a:t>
            </a:r>
            <a:endParaRPr lang="en-AE" dirty="0"/>
          </a:p>
        </p:txBody>
      </p:sp>
    </p:spTree>
  </p:cSld>
  <p:clrMapOvr>
    <a:masterClrMapping/>
  </p:clrMapOvr>
  <p:transition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47F7-9691-4BBE-B879-22127891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en-US"/>
              <a:t>&amp;A – By Panel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1FD0D-23D6-4D0E-9226-8A6515DA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CFF0-5D22-47F9-A6A6-2AF321895914}" type="slidenum">
              <a:rPr lang="en-NZ" smtClean="0"/>
              <a:pPr/>
              <a:t>13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24640895"/>
      </p:ext>
    </p:extLst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W1_Seminar_02-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_DCDateModified xmlns="http://schemas.microsoft.com/sharepoint/v3/fields" xsi:nil="true"/>
    <_DCDateCreated xmlns="http://schemas.microsoft.com/sharepoint/v3/fields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675A6537E3644EBD85D06899B2B987" ma:contentTypeVersion="3" ma:contentTypeDescription="Create a new document." ma:contentTypeScope="" ma:versionID="739c90c76829578ecf5782c58c0cce19">
  <xsd:schema xmlns:xsd="http://www.w3.org/2001/XMLSchema" xmlns:p="http://schemas.microsoft.com/office/2006/metadata/properties" xmlns:ns3="http://schemas.microsoft.com/sharepoint/v3/fields" targetNamespace="http://schemas.microsoft.com/office/2006/metadata/properties" ma:root="true" ma:fieldsID="f8d5a45be8604334c45f94411cf2caa4" ns3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3:_DCDateCreated" minOccurs="0"/>
                <xsd:element ref="ns3:_DCDateModified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/fields" elementFormDefault="qualified">
    <xsd:import namespace="http://schemas.microsoft.com/office/2006/documentManagement/types"/>
    <xsd:element name="_DCDateCreated" ma:index="9" nillable="true" ma:displayName="Date Created" ma:description="The date on which this resource was created" ma:format="DateTime" ma:internalName="_DCDateCreated">
      <xsd:simpleType>
        <xsd:restriction base="dms:DateTime"/>
      </xsd:simpleType>
    </xsd:element>
    <xsd:element name="_DCDateModified" ma:index="10" nillable="true" ma:displayName="Date Modified" ma:description="The date on which this resource was last modified" ma:format="DateTime" ma:internalName="_DCDateModifi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A83A6B-832D-4F67-BC62-8B4D1DEA0D60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sharepoint/v3/field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83FBDC9-A41B-4D7B-985C-CBE416CB4A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BD9AFD5-C1F8-42A4-9936-9164E182FF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W1_Seminar_02-a</Template>
  <TotalTime>487</TotalTime>
  <Words>758</Words>
  <Application>Microsoft Office PowerPoint</Application>
  <PresentationFormat>On-screen Show (4:3)</PresentationFormat>
  <Paragraphs>151</Paragraphs>
  <Slides>13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Lucida Bright</vt:lpstr>
      <vt:lpstr>W1_Seminar_02-a</vt:lpstr>
      <vt:lpstr>Microsoft Word Document</vt:lpstr>
      <vt:lpstr>IT7099 CCNP Route For A Global Health Network </vt:lpstr>
      <vt:lpstr>Introduction </vt:lpstr>
      <vt:lpstr>Aim and Requirements</vt:lpstr>
      <vt:lpstr>Technologies</vt:lpstr>
      <vt:lpstr>Design</vt:lpstr>
      <vt:lpstr>Use case diagram</vt:lpstr>
      <vt:lpstr>Deployment diagram </vt:lpstr>
      <vt:lpstr>Features</vt:lpstr>
      <vt:lpstr>Bahraini Perspectives &amp; LESPI</vt:lpstr>
      <vt:lpstr>Challenges</vt:lpstr>
      <vt:lpstr>Future Work</vt:lpstr>
      <vt:lpstr>Live Demo</vt:lpstr>
      <vt:lpstr>Q&amp;A – By Panel</vt:lpstr>
    </vt:vector>
  </TitlesOfParts>
  <Company>Bahrain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– No.</dc:title>
  <dc:creator>raghda.zahran</dc:creator>
  <cp:lastModifiedBy>Husain Abdulhadi Yaqoob Yusuf Ali</cp:lastModifiedBy>
  <cp:revision>74</cp:revision>
  <dcterms:created xsi:type="dcterms:W3CDTF">2012-06-07T19:43:17Z</dcterms:created>
  <dcterms:modified xsi:type="dcterms:W3CDTF">2025-12-26T17:20:03Z</dcterms:modified>
</cp:coreProperties>
</file>